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bit_header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3996" y="237744"/>
            <a:ext cx="7680960" cy="14493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V="1">
            <a:off x="658368" y="5760720"/>
            <a:ext cx="384048" cy="230429"/>
          </a:xfrm>
          <a:prstGeom prst="line">
            <a:avLst/>
          </a:prstGeom>
          <a:noFill/>
          <a:ln w="1905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658368" y="5991149"/>
            <a:ext cx="384048" cy="230429"/>
          </a:xfrm>
          <a:prstGeom prst="line">
            <a:avLst/>
          </a:prstGeom>
          <a:noFill/>
          <a:ln w="1905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1042416" y="5760720"/>
            <a:ext cx="384048" cy="134417"/>
          </a:xfrm>
          <a:prstGeom prst="line">
            <a:avLst/>
          </a:prstGeom>
          <a:noFill/>
          <a:ln w="1905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 flipV="1">
            <a:off x="1042416" y="5895137"/>
            <a:ext cx="384048" cy="326441"/>
          </a:xfrm>
          <a:prstGeom prst="line">
            <a:avLst/>
          </a:prstGeom>
          <a:noFill/>
          <a:ln w="1905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 flipV="1">
            <a:off x="1042416" y="6163970"/>
            <a:ext cx="384048" cy="57607"/>
          </a:xfrm>
          <a:prstGeom prst="line">
            <a:avLst/>
          </a:prstGeom>
          <a:noFill/>
          <a:ln w="1905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426464" y="5895137"/>
            <a:ext cx="345643" cy="134417"/>
          </a:xfrm>
          <a:prstGeom prst="line">
            <a:avLst/>
          </a:prstGeom>
          <a:noFill/>
          <a:ln w="1905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 flipV="1">
            <a:off x="1426464" y="6029554"/>
            <a:ext cx="345643" cy="134417"/>
          </a:xfrm>
          <a:prstGeom prst="line">
            <a:avLst/>
          </a:prstGeom>
          <a:noFill/>
          <a:ln w="1905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1042416" y="5760720"/>
            <a:ext cx="384048" cy="403250"/>
          </a:xfrm>
          <a:prstGeom prst="line">
            <a:avLst/>
          </a:prstGeom>
          <a:noFill/>
          <a:ln w="1905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25724" y="5958505"/>
            <a:ext cx="65288" cy="65288"/>
          </a:xfrm>
          <a:prstGeom prst="ellipse">
            <a:avLst/>
          </a:prstGeom>
          <a:solidFill>
            <a:srgbClr val="0E7A6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1009772" y="5728076"/>
            <a:ext cx="65288" cy="652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09772" y="6188934"/>
            <a:ext cx="65288" cy="65288"/>
          </a:xfrm>
          <a:prstGeom prst="ellipse">
            <a:avLst/>
          </a:prstGeom>
          <a:solidFill>
            <a:srgbClr val="0E7A6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1393820" y="5862493"/>
            <a:ext cx="65288" cy="652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1393820" y="6131326"/>
            <a:ext cx="65288" cy="65288"/>
          </a:xfrm>
          <a:prstGeom prst="ellipse">
            <a:avLst/>
          </a:prstGeom>
          <a:solidFill>
            <a:srgbClr val="0E7A6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1739463" y="5996910"/>
            <a:ext cx="65288" cy="65288"/>
          </a:xfrm>
          <a:prstGeom prst="ellipse">
            <a:avLst/>
          </a:prstGeom>
          <a:solidFill>
            <a:srgbClr val="E2603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548640" y="1965960"/>
            <a:ext cx="8138160" cy="1874520"/>
          </a:xfrm>
          <a:prstGeom prst="roundRect">
            <a:avLst>
              <a:gd name="adj" fmla="val 4878"/>
            </a:avLst>
          </a:prstGeom>
          <a:solidFill>
            <a:srgbClr val="EAF6F4"/>
          </a:solidFill>
          <a:ln w="1270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868680" y="2048256"/>
            <a:ext cx="7589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800" b="1" kern="0" spc="200" dirty="0">
                <a:solidFill>
                  <a:srgbClr val="0B5A5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ARGUS -</a:t>
            </a:r>
            <a:endParaRPr lang="en-US" sz="5800" dirty="0"/>
          </a:p>
        </p:txBody>
      </p:sp>
      <p:sp>
        <p:nvSpPr>
          <p:cNvPr id="19" name="Text 16"/>
          <p:cNvSpPr/>
          <p:nvPr/>
        </p:nvSpPr>
        <p:spPr>
          <a:xfrm>
            <a:off x="896112" y="2889504"/>
            <a:ext cx="7543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An AI-Powered Graph Intelligence Platform for Detecting Money-Laundering Networks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96112" y="3346704"/>
            <a:ext cx="7543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8640" y="395020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Major Project – I   •   B.E. VII Semester   •   Dept. of Artificial Intelligence &amp; Data Science   •   AY 2026–27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66928" y="4443984"/>
            <a:ext cx="484632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0B5A5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Batch No.  </a:t>
            </a:r>
            <a:r>
              <a:rPr lang="en-US" sz="140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120</a:t>
            </a:r>
            <a:endParaRPr lang="en-US" sz="14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0B5A5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Project Guide  </a:t>
            </a:r>
            <a:endParaRPr lang="en-US" sz="14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Ms. V. Vasuki Rohini Devi,  Assistant Professor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/>
        </p:nvGraphicFramePr>
        <p:xfrm>
          <a:off x="5806440" y="4389120"/>
          <a:ext cx="5806440" cy="1536192"/>
        </p:xfrm>
        <a:graphic>
          <a:graphicData uri="http://schemas.openxmlformats.org/drawingml/2006/table">
            <a:tbl>
              <a:tblPr/>
              <a:tblGrid>
                <a:gridCol w="777240"/>
                <a:gridCol w="2194560"/>
                <a:gridCol w="2834640"/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S.No</a:t>
                      </a:r>
                      <a:endParaRPr lang="en-US" sz="12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Roll No.</a:t>
                      </a:r>
                      <a:endParaRPr lang="en-US" sz="12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Name of Student</a:t>
                      </a:r>
                      <a:endParaRPr lang="en-US" sz="12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</a:t>
                      </a:r>
                      <a:endParaRPr lang="en-US" sz="12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160123771303</a:t>
                      </a:r>
                      <a:endParaRPr lang="en-US" sz="12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Y. Charan Sai</a:t>
                      </a:r>
                      <a:endParaRPr lang="en-US" sz="12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</a:t>
                      </a:r>
                      <a:endParaRPr lang="en-US" sz="12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160123771306</a:t>
                      </a:r>
                      <a:endParaRPr lang="en-US" sz="12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B. Ram Charan</a:t>
                      </a:r>
                      <a:endParaRPr lang="en-US" sz="12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3</a:t>
                      </a:r>
                      <a:endParaRPr lang="en-US" sz="12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160123771307</a:t>
                      </a:r>
                      <a:endParaRPr lang="en-US" sz="12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C. Ganesh Kumar</a:t>
                      </a:r>
                      <a:endParaRPr lang="en-US" sz="12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ARGUS  |  Graph Intelligence for Anti-Money-Laundering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bit_header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3996" y="237744"/>
            <a:ext cx="7680960" cy="14493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1865376"/>
            <a:ext cx="146304" cy="329184"/>
          </a:xfrm>
          <a:prstGeom prst="roundRect">
            <a:avLst>
              <a:gd name="adj" fmla="val 25000"/>
            </a:avLst>
          </a:prstGeom>
          <a:solidFill>
            <a:srgbClr val="14B8A6"/>
          </a:solidFill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786384" y="179222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5A5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Abstract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ARGUS  |  Graph Intelligence for Anti-Money-Laundering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2414016"/>
            <a:ext cx="6903720" cy="411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ARGUS is an AI-powered graph-intelligence platform that detects mule-account networks used to launder cyber-fraud money across multiple banks. Because a single bank sees only one hop of a laundering chain, ARGUS models the flow of money as a heterogeneous, temporal transaction graph — customers, accounts and banks linked by time-stamped transfers — and uses Graph Neural Networks to reveal the entire laundering ring, not just an isolated account. A LightGBM filter suppresses false positives and a GenAI layer drafts Suspicious Transaction Reports for a human officer to approve — a recommendation, never an automatic freeze. ARGUS is evaluated inside a controlled multi-bank digital twin that injects and mutates laundering rings with known ground truth, letting us stress-test the detector against adaptive, camouflaged criminals and measure how much accuracy an attack removes (degradation) and how quickly retraining restores it (recovery). All data used is public and synthetic; no live bank data is required.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726680" y="2414016"/>
            <a:ext cx="3913632" cy="3886200"/>
          </a:xfrm>
          <a:prstGeom prst="roundRect">
            <a:avLst>
              <a:gd name="adj" fmla="val 2353"/>
            </a:avLst>
          </a:prstGeom>
          <a:solidFill>
            <a:srgbClr val="EAF6F4"/>
          </a:solidFill>
          <a:ln w="1270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 flipV="1">
            <a:off x="8275320" y="2715768"/>
            <a:ext cx="566928" cy="340157"/>
          </a:xfrm>
          <a:prstGeom prst="line">
            <a:avLst/>
          </a:prstGeom>
          <a:noFill/>
          <a:ln w="1905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8275320" y="3055925"/>
            <a:ext cx="566928" cy="340157"/>
          </a:xfrm>
          <a:prstGeom prst="line">
            <a:avLst/>
          </a:prstGeom>
          <a:noFill/>
          <a:ln w="1905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842248" y="2715768"/>
            <a:ext cx="566928" cy="198425"/>
          </a:xfrm>
          <a:prstGeom prst="line">
            <a:avLst/>
          </a:prstGeom>
          <a:noFill/>
          <a:ln w="1905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V="1">
            <a:off x="8842248" y="2914193"/>
            <a:ext cx="566928" cy="481889"/>
          </a:xfrm>
          <a:prstGeom prst="line">
            <a:avLst/>
          </a:prstGeom>
          <a:noFill/>
          <a:ln w="1905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 flipV="1">
            <a:off x="8842248" y="3311042"/>
            <a:ext cx="566928" cy="85039"/>
          </a:xfrm>
          <a:prstGeom prst="line">
            <a:avLst/>
          </a:prstGeom>
          <a:noFill/>
          <a:ln w="1905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9409176" y="2914193"/>
            <a:ext cx="510235" cy="198425"/>
          </a:xfrm>
          <a:prstGeom prst="line">
            <a:avLst/>
          </a:prstGeom>
          <a:noFill/>
          <a:ln w="1905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V="1">
            <a:off x="9409176" y="3112618"/>
            <a:ext cx="510235" cy="198425"/>
          </a:xfrm>
          <a:prstGeom prst="line">
            <a:avLst/>
          </a:prstGeom>
          <a:noFill/>
          <a:ln w="1905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8842248" y="2715768"/>
            <a:ext cx="566928" cy="595274"/>
          </a:xfrm>
          <a:prstGeom prst="line">
            <a:avLst/>
          </a:prstGeom>
          <a:noFill/>
          <a:ln w="1905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8227131" y="3007736"/>
            <a:ext cx="96378" cy="96378"/>
          </a:xfrm>
          <a:prstGeom prst="ellipse">
            <a:avLst/>
          </a:prstGeom>
          <a:solidFill>
            <a:srgbClr val="0E7A6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8794059" y="2667579"/>
            <a:ext cx="96378" cy="9637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8794059" y="3347893"/>
            <a:ext cx="96378" cy="96378"/>
          </a:xfrm>
          <a:prstGeom prst="ellipse">
            <a:avLst/>
          </a:prstGeom>
          <a:solidFill>
            <a:srgbClr val="0E7A6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9360987" y="2866004"/>
            <a:ext cx="96378" cy="9637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9360987" y="3262854"/>
            <a:ext cx="96378" cy="96378"/>
          </a:xfrm>
          <a:prstGeom prst="ellipse">
            <a:avLst/>
          </a:prstGeom>
          <a:solidFill>
            <a:srgbClr val="0E7A6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9871222" y="3064429"/>
            <a:ext cx="96378" cy="96378"/>
          </a:xfrm>
          <a:prstGeom prst="ellipse">
            <a:avLst/>
          </a:prstGeom>
          <a:solidFill>
            <a:srgbClr val="E2603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8001000" y="3813048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2603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~</a:t>
            </a:r>
            <a:r>
              <a:rPr lang="en-IN" altLang="en-US" sz="3000" b="1" dirty="0">
                <a:solidFill>
                  <a:srgbClr val="E2603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r>
              <a:rPr lang="en-US" sz="3000" b="1" dirty="0">
                <a:solidFill>
                  <a:srgbClr val="E2603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%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8019288" y="4288536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of defrauded money is ever recovered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8001000" y="4544568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5A5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0.61%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8019288" y="5020056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of accounts are launderers (extreme rarity)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8001000" y="5276088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B8A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55%</a:t>
            </a:r>
            <a:endParaRPr lang="en-US" sz="3000" dirty="0"/>
          </a:p>
        </p:txBody>
      </p:sp>
      <p:sp>
        <p:nvSpPr>
          <p:cNvPr id="28" name="Text 25"/>
          <p:cNvSpPr/>
          <p:nvPr/>
        </p:nvSpPr>
        <p:spPr>
          <a:xfrm>
            <a:off x="8019288" y="5751576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fewer false positives with temporal GNNs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bit_header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3996" y="237744"/>
            <a:ext cx="7680960" cy="14493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1865376"/>
            <a:ext cx="146304" cy="329184"/>
          </a:xfrm>
          <a:prstGeom prst="roundRect">
            <a:avLst>
              <a:gd name="adj" fmla="val 25000"/>
            </a:avLst>
          </a:prstGeom>
          <a:solidFill>
            <a:srgbClr val="14B8A6"/>
          </a:solidFill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786384" y="179222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5A5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ARGUS  |  Graph Intelligence for Anti-Money-Laundering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2395728"/>
            <a:ext cx="7360920" cy="566928"/>
          </a:xfrm>
          <a:prstGeom prst="roundRect">
            <a:avLst>
              <a:gd name="adj" fmla="val 12903"/>
            </a:avLst>
          </a:prstGeom>
          <a:solidFill>
            <a:srgbClr val="EAF6F4"/>
          </a:solidFill>
          <a:ln w="1270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49808" y="2395728"/>
            <a:ext cx="7040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5A5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Domain   </a:t>
            </a:r>
            <a:r>
              <a:rPr lang="en-US" sz="125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Artificial Intelligence &amp; Financial Crime — Graph Machine Learning for Anti-Money-Laundering (AML)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172968"/>
            <a:ext cx="7360920" cy="3383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Digital payment fraud has exploded, and stolen money is laundered by splitting it within minutes across chains of “mule” accounts spanning many banks — a network problem that no single bank can see, since each observes only its own hop. Traditional rule-based AML systems flag isolated transactions by fixed thresholds that criminals easily evade, so ARGUS instead represents the whole flow of money as a heterogeneous, temporal graph and applies Graph Neural Networks to expose the complete laundering ring in near-real-time. The problem is real and current: the RBI, MHA and I4C confirm multi-hop, cross-bank mule laundering, and the RBI’s MuleHunter.AI is already being deployed nationally. ARGUS therefore positions itself not as a claim to solve an unsolved problem, but as an open GNN prototype and an adversarial stress-test of the very approach India is rolling out — measuring how well such a detector holds when criminals adapt and camouflage.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0" y="2350008"/>
            <a:ext cx="3429000" cy="786384"/>
          </a:xfrm>
          <a:prstGeom prst="roundRect">
            <a:avLst>
              <a:gd name="adj" fmla="val 9302"/>
            </a:avLst>
          </a:prstGeom>
          <a:solidFill>
            <a:srgbClr val="F5FBFA"/>
          </a:solidFill>
          <a:ln w="1270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375904" y="2569464"/>
            <a:ext cx="365760" cy="365760"/>
          </a:xfrm>
          <a:prstGeom prst="ellipse">
            <a:avLst/>
          </a:prstGeom>
          <a:solidFill>
            <a:srgbClr val="0E7A6E"/>
          </a:solidFill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375904" y="256946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869680" y="2441448"/>
            <a:ext cx="26517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5A5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Alert fires
</a:t>
            </a:r>
            <a:r>
              <a:rPr lang="en-US" sz="1050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 forming mule ring is flagged early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558784" y="3136392"/>
            <a:ext cx="0" cy="146304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8229600" y="3282696"/>
            <a:ext cx="3429000" cy="786384"/>
          </a:xfrm>
          <a:prstGeom prst="roundRect">
            <a:avLst>
              <a:gd name="adj" fmla="val 9302"/>
            </a:avLst>
          </a:prstGeom>
          <a:solidFill>
            <a:srgbClr val="F5FBFA"/>
          </a:solidFill>
          <a:ln w="1270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8375904" y="3502152"/>
            <a:ext cx="365760" cy="365760"/>
          </a:xfrm>
          <a:prstGeom prst="ellipse">
            <a:avLst/>
          </a:prstGeom>
          <a:solidFill>
            <a:srgbClr val="0E7A6E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375904" y="350215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869680" y="3374136"/>
            <a:ext cx="26517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5A5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Network reveals
</a:t>
            </a:r>
            <a:r>
              <a:rPr lang="en-US" sz="1050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the cross-bank ring is reconstructed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558784" y="4069080"/>
            <a:ext cx="0" cy="146304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8229600" y="4215384"/>
            <a:ext cx="3429000" cy="786384"/>
          </a:xfrm>
          <a:prstGeom prst="roundRect">
            <a:avLst>
              <a:gd name="adj" fmla="val 9302"/>
            </a:avLst>
          </a:prstGeom>
          <a:solidFill>
            <a:srgbClr val="F5FBFA"/>
          </a:solidFill>
          <a:ln w="1270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8375904" y="4434840"/>
            <a:ext cx="365760" cy="365760"/>
          </a:xfrm>
          <a:prstGeom prst="ellipse">
            <a:avLst/>
          </a:prstGeom>
          <a:solidFill>
            <a:srgbClr val="0E7A6E"/>
          </a:solidFill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8375904" y="44348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869680" y="4306824"/>
            <a:ext cx="26517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IN" altLang="en-US" sz="1300" b="1" dirty="0">
                <a:solidFill>
                  <a:srgbClr val="0B5A5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Multi </a:t>
            </a:r>
            <a:r>
              <a:rPr lang="en-US" sz="1300" b="1" dirty="0">
                <a:solidFill>
                  <a:srgbClr val="0B5A5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Agent investigates
</a:t>
            </a:r>
            <a:r>
              <a:rPr lang="en-US" sz="1050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traces the trail, drafts an STR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558784" y="5001768"/>
            <a:ext cx="0" cy="146304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8229600" y="5148072"/>
            <a:ext cx="3429000" cy="786384"/>
          </a:xfrm>
          <a:prstGeom prst="roundRect">
            <a:avLst>
              <a:gd name="adj" fmla="val 9302"/>
            </a:avLst>
          </a:prstGeom>
          <a:solidFill>
            <a:srgbClr val="F5FBFA"/>
          </a:solidFill>
          <a:ln w="1270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8375904" y="5367528"/>
            <a:ext cx="365760" cy="365760"/>
          </a:xfrm>
          <a:prstGeom prst="ellipse">
            <a:avLst/>
          </a:prstGeom>
          <a:solidFill>
            <a:srgbClr val="0E7A6E"/>
          </a:solidFill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8375904" y="536752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869680" y="5239512"/>
            <a:ext cx="26517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5A5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Criminal adapts
</a:t>
            </a:r>
            <a:r>
              <a:rPr lang="en-US" sz="1050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detector is retested &amp; re-hardened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bit_header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3996" y="237744"/>
            <a:ext cx="7680960" cy="14493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1865376"/>
            <a:ext cx="146304" cy="329184"/>
          </a:xfrm>
          <a:prstGeom prst="roundRect">
            <a:avLst>
              <a:gd name="adj" fmla="val 25000"/>
            </a:avLst>
          </a:prstGeom>
          <a:solidFill>
            <a:srgbClr val="14B8A6"/>
          </a:solidFill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786384" y="179222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5A5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Literature Survey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ARGUS  |  Graph Intelligence for Anti-Money-Laundering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058400" y="1892808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Papers 1–3 of 10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48640" y="2414016"/>
          <a:ext cx="11091672" cy="3877056"/>
        </p:xfrm>
        <a:graphic>
          <a:graphicData uri="http://schemas.openxmlformats.org/drawingml/2006/table">
            <a:tbl>
              <a:tblPr/>
              <a:tblGrid>
                <a:gridCol w="475488"/>
                <a:gridCol w="1188720"/>
                <a:gridCol w="2157984"/>
                <a:gridCol w="932688"/>
                <a:gridCol w="2980944"/>
                <a:gridCol w="1700784"/>
                <a:gridCol w="1655064"/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S.No</a:t>
                      </a:r>
                      <a:endParaRPr lang="en-US" sz="9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Paper / Year</a:t>
                      </a:r>
                      <a:endParaRPr lang="en-US" sz="9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Title</a:t>
                      </a:r>
                      <a:endParaRPr lang="en-US" sz="9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Type of</a:t>
                      </a:r>
                      <a:endParaRPr lang="en-US" sz="9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Publication</a:t>
                      </a:r>
                      <a:endParaRPr lang="en-US" sz="9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Methodology</a:t>
                      </a:r>
                      <a:endParaRPr lang="en-US" sz="9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Limitation</a:t>
                      </a:r>
                      <a:endParaRPr lang="en-US" sz="9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Result / Accuracy</a:t>
                      </a:r>
                      <a:endParaRPr lang="en-US" sz="9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E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Johannessen &amp;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Jullum, 2025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Finding Money Launderers Using Heterogeneous GNNs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Journal</a:t>
                      </a:r>
                      <a:r>
                        <a:rPr lang="en-IN" altLang="en-US" sz="950" b="1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 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★ Base Paper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Builds a heterogeneous graph — customers, accounts and banks as distinct node types with typed edges — from real DNB bank and business-role data. Extends message-passing GNNs to aggregate neighbour messages separately for each edge type, then classifies each account node as launderer or normal.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Private data; single bank; no temporal or adversarial test.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First heterogeneous GNN for AML; strong detection on a real bank network.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Di Gennaro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et al., 2024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Amatriciana: Temporal GNNs for ML Detection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IEEE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Keeps the whole transaction graph intact (no time slicing). A GraphSAGE encoder learns structure from sampled neighbours while an LSTM encodes each account's transaction sequence over time. Both are trained end-to-end with a class-weighted MCC loss that penalises false positives on the rare launderer class.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Synthetic data only; no adaptive attacker.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F1 0.76, AUC 0.82, prec 0.81 vs GraphSAGE 0.67; 55% fewer FPs.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3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Granados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et al., 2024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GAN+ABM to Simulate Suspicious ML Trajectories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IEEE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Defines agent types — normal customers, mules, coordinators — with behavioural rules (receive → hold → split → forward) inside an agent-based model of non-banking correspondents. A GAN then learns the real transaction distribution to make generated flows realistic, producing complete laundering trajectories whose labels are fully known.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Synthetic ≠ real; GAN realism hard to verify.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Controllable laundering scenarios with known ground truth.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bit_header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3996" y="237744"/>
            <a:ext cx="7680960" cy="14493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1865376"/>
            <a:ext cx="146304" cy="329184"/>
          </a:xfrm>
          <a:prstGeom prst="roundRect">
            <a:avLst>
              <a:gd name="adj" fmla="val 25000"/>
            </a:avLst>
          </a:prstGeom>
          <a:solidFill>
            <a:srgbClr val="14B8A6"/>
          </a:solidFill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786384" y="179222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5A5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Literature Survey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ARGUS  |  Graph Intelligence for Anti-Money-Laundering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058400" y="1892808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Papers 4–6 of 10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48640" y="2414016"/>
          <a:ext cx="11091672" cy="3877056"/>
        </p:xfrm>
        <a:graphic>
          <a:graphicData uri="http://schemas.openxmlformats.org/drawingml/2006/table">
            <a:tbl>
              <a:tblPr/>
              <a:tblGrid>
                <a:gridCol w="475488"/>
                <a:gridCol w="1188720"/>
                <a:gridCol w="2157984"/>
                <a:gridCol w="932688"/>
                <a:gridCol w="2980944"/>
                <a:gridCol w="1700784"/>
                <a:gridCol w="1655064"/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S.No</a:t>
                      </a:r>
                      <a:endParaRPr lang="en-US" sz="9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Paper / Year</a:t>
                      </a:r>
                      <a:endParaRPr lang="en-US" sz="9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Title</a:t>
                      </a:r>
                      <a:endParaRPr lang="en-US" sz="9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Type of</a:t>
                      </a:r>
                      <a:endParaRPr lang="en-US" sz="9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Publication</a:t>
                      </a:r>
                      <a:endParaRPr lang="en-US" sz="9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Methodology</a:t>
                      </a:r>
                      <a:endParaRPr lang="en-US" sz="9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Limitation</a:t>
                      </a:r>
                      <a:endParaRPr lang="en-US" sz="9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Result / Accuracy</a:t>
                      </a:r>
                      <a:endParaRPr lang="en-US" sz="9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E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4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Prasetya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et al., 2025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Multi-Rounded Adversarial Scenario for Graph Fraud Detection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Springer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Plays a multi-round game: the detector predicts, the attacker regenerates fraud on the evolving graph, and the cycle repeats over rounds G0 → G1 → … → GT. Proposes TPNE, a self-supervised, temporally pre-trained node embedder that learns graph structure across rounds before the fraud classifier runs.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Promo-fraud domain, not AML.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Baselines drop below 56% F1 across rounds; TPNE more robust.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5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Liu et al.,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2021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Pick and Choose: GNN Imbalanced Learning (PC-GNN)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Scopus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 three-stage pipeline: Pick, Choose, Aggregate. A label-balanced sampler oversamples rare fraud nodes (probability ∝ inverse label frequency); a neighbourhood sampler keeps informative neighbours and drops majority-class noise; a relation-aware aggregator then combines the chosen neighbours for node classification.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Review/financial fraud, not AML; static graphs.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Beats SOTA on imbalanced fraud graphs (YelpChi, Amazon).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6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Dou et al.,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2020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Enhancing GNN Fraud Detectors vs Camouflage (CARE-GNN)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Scopus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Counters feature and relation camouflage with three modules: a label-aware similarity measure scores how informative each neighbour is; a reinforcement-learning agent decides how many neighbours to keep per relation; and a relation-aware aggregator fuses the filtered neighbours. Trained with a combined GNN + similarity loss.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Review fraud, not AML; no temporal dimension.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Outperforms SOTA GNN fraud detectors on two real datasets.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bit_header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3996" y="237744"/>
            <a:ext cx="7680960" cy="14493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1865376"/>
            <a:ext cx="146304" cy="329184"/>
          </a:xfrm>
          <a:prstGeom prst="roundRect">
            <a:avLst>
              <a:gd name="adj" fmla="val 25000"/>
            </a:avLst>
          </a:prstGeom>
          <a:solidFill>
            <a:srgbClr val="14B8A6"/>
          </a:solidFill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786384" y="179222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5A5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Literature Survey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ARGUS  |  Graph Intelligence for Anti-Money-Laundering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058400" y="1892808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Papers 7–8 of 10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48640" y="2414016"/>
          <a:ext cx="11091672" cy="3456432"/>
        </p:xfrm>
        <a:graphic>
          <a:graphicData uri="http://schemas.openxmlformats.org/drawingml/2006/table">
            <a:tbl>
              <a:tblPr/>
              <a:tblGrid>
                <a:gridCol w="475488"/>
                <a:gridCol w="1188720"/>
                <a:gridCol w="2157984"/>
                <a:gridCol w="932688"/>
                <a:gridCol w="2980944"/>
                <a:gridCol w="1700784"/>
                <a:gridCol w="1655064"/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S.No</a:t>
                      </a:r>
                      <a:endParaRPr lang="en-US" sz="9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Paper / Year</a:t>
                      </a:r>
                      <a:endParaRPr lang="en-US" sz="9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Title</a:t>
                      </a:r>
                      <a:endParaRPr lang="en-US" sz="9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Type of</a:t>
                      </a:r>
                      <a:endParaRPr lang="en-US" sz="9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Publication</a:t>
                      </a:r>
                      <a:endParaRPr lang="en-US" sz="9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Methodology</a:t>
                      </a:r>
                      <a:endParaRPr lang="en-US" sz="9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Limitation</a:t>
                      </a:r>
                      <a:endParaRPr lang="en-US" sz="9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Result / Accuracy</a:t>
                      </a:r>
                      <a:endParaRPr lang="en-US" sz="9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E"/>
                    </a:solidFill>
                  </a:tcPr>
                </a:tc>
              </a:tr>
              <a:tr h="1572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7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Cardoso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et al., 2022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LaundroGraph: Self-Supervised Graph Learning for AML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Scopus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Constructs a customer–transaction bipartite graph and pre-trains a GNN with a self-supervised link-prediction task — predicting which customer–transaction links exist — so no laundering labels are needed. The learned embeddings then power downstream analyst case-review and triage.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Assists analysts; no direct laundering labels.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+12 p.p. AUC over best non-graph baseline; first self-supervised AML.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72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8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Alarab &amp;</a:t>
                      </a:r>
                      <a:endParaRPr lang="en-US" altLang="en-US" sz="810" dirty="0">
                        <a:solidFill>
                          <a:srgbClr val="1B2A32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-12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alt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Prakoonwit, 2023</a:t>
                      </a:r>
                      <a:endParaRPr lang="en-US" altLang="en-US" sz="810" dirty="0">
                        <a:solidFill>
                          <a:srgbClr val="1B2A32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-12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50" b="1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Graph-Based LSTM for AML: Temporal GCN with Bitcoin Data</a:t>
                      </a:r>
                      <a:endParaRPr lang="en-US" altLang="en-US" sz="810" b="1" dirty="0">
                        <a:solidFill>
                          <a:srgbClr val="1B2A32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-12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50" dirty="0">
                          <a:latin typeface="Times New Roman" panose="02020603050405020304" pitchFamily="34" charset="0"/>
                          <a:ea typeface="Times New Roman" panose="02020603050405020304" pitchFamily="34" charset="0"/>
                          <a:cs typeface="Times New Roman" panose="02020603050405020304" pitchFamily="34" charset="0"/>
                        </a:rPr>
                        <a:t>Springer</a:t>
                      </a:r>
                      <a:endParaRPr lang="en-US" alt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Combines a graph convolutional network with an LSTM (temporal-GCN) so each Bitcoin transaction is classified from both its graph neighbourhood and how it evolves across time steps of the Elliptic graph. Adds an active-learning loop that uses MC-dropout and Monte-Carlo adversarial-attack uncertainty to pick which transactions to label next.</a:t>
                      </a:r>
                      <a:endParaRPr lang="en-US" altLang="en-US" sz="810" dirty="0">
                        <a:solidFill>
                          <a:srgbClr val="1B2A32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-12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Bitcoin transactions, not bank accounts; transaction features only; no adaptive attacker.</a:t>
                      </a:r>
                      <a:endParaRPr lang="en-US" altLang="en-US" sz="810" dirty="0">
                        <a:solidFill>
                          <a:srgbClr val="1B2A32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-12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Temporal-GCN beats prior models on Elliptic under the same setting — time carries real signal.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bit_header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3996" y="237744"/>
            <a:ext cx="7680960" cy="14493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1865376"/>
            <a:ext cx="146304" cy="329184"/>
          </a:xfrm>
          <a:prstGeom prst="roundRect">
            <a:avLst>
              <a:gd name="adj" fmla="val 25000"/>
            </a:avLst>
          </a:prstGeom>
          <a:solidFill>
            <a:srgbClr val="14B8A6"/>
          </a:solidFill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786384" y="179222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5A5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Literature Survey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ARGUS  |  Graph Intelligence for Anti-Money-Laundering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058400" y="1892808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Papers 9–10 of 10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48640" y="2414016"/>
          <a:ext cx="11091672" cy="3456432"/>
        </p:xfrm>
        <a:graphic>
          <a:graphicData uri="http://schemas.openxmlformats.org/drawingml/2006/table">
            <a:tbl>
              <a:tblPr/>
              <a:tblGrid>
                <a:gridCol w="475488"/>
                <a:gridCol w="1188720"/>
                <a:gridCol w="2157984"/>
                <a:gridCol w="932688"/>
                <a:gridCol w="2980944"/>
                <a:gridCol w="1700784"/>
                <a:gridCol w="1655064"/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S.No</a:t>
                      </a:r>
                      <a:endParaRPr lang="en-US" sz="9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Paper / Year</a:t>
                      </a:r>
                      <a:endParaRPr lang="en-US" sz="9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Title</a:t>
                      </a:r>
                      <a:endParaRPr lang="en-US" sz="9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Type of</a:t>
                      </a:r>
                      <a:endParaRPr lang="en-US" sz="9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Publication</a:t>
                      </a:r>
                      <a:endParaRPr lang="en-US" sz="9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Methodology</a:t>
                      </a:r>
                      <a:endParaRPr lang="en-US" sz="9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Limitation</a:t>
                      </a:r>
                      <a:endParaRPr lang="en-US" sz="9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Result / Accuracy</a:t>
                      </a:r>
                      <a:endParaRPr lang="en-US" sz="9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E"/>
                    </a:solidFill>
                  </a:tcPr>
                </a:tc>
              </a:tr>
              <a:tr h="1572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9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Bellei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et al., 2024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The Shape of Money Laundering (Elliptic2)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Scopus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Shifts the unit of prediction from a single node to a whole connected subgraph, learning the recurring “shapes” of laundering such as peeling chains and nested services. Releases the large-scale Elliptic2 benchmark: 122K labelled subgraphs over a 49M-node / 196M-edge background graph.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Bitcoin address-clusters, not bank accounts.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Subgraph beats node level; 122K subgraphs / 49M nodes / 196M edges.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72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10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Weber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et al., 2018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Scalable Graph Learning for AML: A First Look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Scopus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Generates a large synthetic AML graph (1M nodes / 9M edges) using the AMLSim agent-based simulator, then applies scalable graph-convolution methods (e.g. FastGCN) with neighbour sampling and graph compression to cut compute and memory. A preliminary feasibility study of GNN-based AML at scale.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Preliminary; synthetic; accuracy not meaningful.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GNN AML feasible at scale (1M nodes / 9M edges); introduces AMLSim.</a:t>
                      </a:r>
                      <a:endParaRPr lang="en-US" sz="81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25400" marR="25400" marT="25400" marB="25400" anchor="t">
                    <a:lnL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bit_header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3996" y="237744"/>
            <a:ext cx="7680960" cy="14493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1865376"/>
            <a:ext cx="146304" cy="329184"/>
          </a:xfrm>
          <a:prstGeom prst="roundRect">
            <a:avLst>
              <a:gd name="adj" fmla="val 25000"/>
            </a:avLst>
          </a:prstGeom>
          <a:solidFill>
            <a:srgbClr val="14B8A6"/>
          </a:solidFill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786384" y="179222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5A5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ARGUS  |  Graph Intelligence for Anti-Money-Laundering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2414016"/>
            <a:ext cx="6903720" cy="2468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altLang="en-US" sz="1350" dirty="0">
                <a:latin typeface="Times New Roman" panose="02020603050405020304" pitchFamily="34" charset="0"/>
                <a:cs typeface="Times New Roman" panose="02020603050405020304" pitchFamily="34" charset="0"/>
              </a:rPr>
              <a:t>Money laundered from online fraud moves through mule accounts across several banks, and because each bank sees only its own hop, no institution ever sees the full laundering ring — and existing graph detectors are never tested against criminals who adapt after detection.</a:t>
            </a:r>
            <a:endParaRPr lang="en-US" altLang="en-US" sz="1350" dirty="0">
              <a:latin typeface="Times New Roman" panose="02020603050405020304" pitchFamily="34" charset="0"/>
              <a:cs typeface="Times New Roman" panose="020206030504050203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48640" y="4910328"/>
            <a:ext cx="690372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altLang="en-US" sz="1350" b="1" dirty="0">
                <a:solidFill>
                  <a:srgbClr val="0B5A5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 graph-based AML system that reconstructs the cross-bank laundering ring in near-real-time and recommends action to a human officer, and is systematically stress-tested to measure how much accuracy it loses when criminals adapt and how fast it recovers.</a:t>
            </a:r>
            <a:endParaRPr lang="en-US" altLang="en-US" sz="1350" b="1" dirty="0">
              <a:solidFill>
                <a:srgbClr val="0B5A52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772400" y="2350008"/>
            <a:ext cx="3867912" cy="3840480"/>
          </a:xfrm>
          <a:prstGeom prst="roundRect">
            <a:avLst>
              <a:gd name="adj" fmla="val 2381"/>
            </a:avLst>
          </a:prstGeom>
          <a:solidFill>
            <a:srgbClr val="F5FBFA"/>
          </a:solidFill>
          <a:ln w="1270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909560" y="2414016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One hop per bank — the ring stays invisible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 flipV="1">
            <a:off x="8686800" y="3218688"/>
            <a:ext cx="1234440" cy="914400"/>
          </a:xfrm>
          <a:prstGeom prst="line">
            <a:avLst/>
          </a:prstGeom>
          <a:noFill/>
          <a:ln w="1905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8686800" y="4133088"/>
            <a:ext cx="1234440" cy="0"/>
          </a:xfrm>
          <a:prstGeom prst="line">
            <a:avLst/>
          </a:prstGeom>
          <a:noFill/>
          <a:ln w="1905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8686800" y="4133088"/>
            <a:ext cx="1234440" cy="914400"/>
          </a:xfrm>
          <a:prstGeom prst="line">
            <a:avLst/>
          </a:prstGeom>
          <a:noFill/>
          <a:ln w="1905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V="1">
            <a:off x="9921240" y="2944368"/>
            <a:ext cx="1234440" cy="274320"/>
          </a:xfrm>
          <a:prstGeom prst="line">
            <a:avLst/>
          </a:prstGeom>
          <a:noFill/>
          <a:ln w="1905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9921240" y="3218688"/>
            <a:ext cx="1234440" cy="411480"/>
          </a:xfrm>
          <a:prstGeom prst="line">
            <a:avLst/>
          </a:prstGeom>
          <a:noFill/>
          <a:ln w="1905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 flipV="1">
            <a:off x="9921240" y="3630168"/>
            <a:ext cx="1234440" cy="502920"/>
          </a:xfrm>
          <a:prstGeom prst="line">
            <a:avLst/>
          </a:prstGeom>
          <a:noFill/>
          <a:ln w="1905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9921240" y="4133088"/>
            <a:ext cx="1234440" cy="228600"/>
          </a:xfrm>
          <a:prstGeom prst="line">
            <a:avLst/>
          </a:prstGeom>
          <a:noFill/>
          <a:ln w="1905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 flipV="1">
            <a:off x="9921240" y="4361688"/>
            <a:ext cx="1234440" cy="685800"/>
          </a:xfrm>
          <a:prstGeom prst="line">
            <a:avLst/>
          </a:prstGeom>
          <a:noFill/>
          <a:ln w="1905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9921240" y="5047488"/>
            <a:ext cx="1234440" cy="45720"/>
          </a:xfrm>
          <a:prstGeom prst="line">
            <a:avLst/>
          </a:prstGeom>
          <a:noFill/>
          <a:ln w="1905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1055096" y="2843784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1055096" y="3529584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1055096" y="4261104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1055096" y="4992624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9802368" y="3099816"/>
            <a:ext cx="237744" cy="23774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802368" y="4014216"/>
            <a:ext cx="237744" cy="23774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9802368" y="4928616"/>
            <a:ext cx="237744" cy="23774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8540496" y="3986784"/>
            <a:ext cx="292608" cy="292608"/>
          </a:xfrm>
          <a:prstGeom prst="ellipse">
            <a:avLst/>
          </a:prstGeom>
          <a:solidFill>
            <a:srgbClr val="E2603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8183880" y="4315968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Victim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372600" y="545896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Mule accounts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698480" y="545896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Cash-out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bit_header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3996" y="237744"/>
            <a:ext cx="7680960" cy="14493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1865376"/>
            <a:ext cx="146304" cy="329184"/>
          </a:xfrm>
          <a:prstGeom prst="roundRect">
            <a:avLst>
              <a:gd name="adj" fmla="val 25000"/>
            </a:avLst>
          </a:prstGeom>
          <a:solidFill>
            <a:srgbClr val="14B8A6"/>
          </a:solidFill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786384" y="179222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5A5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ARGUS  |  Graph Intelligence for Anti-Money-Laundering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2414016"/>
            <a:ext cx="5285232" cy="1060704"/>
          </a:xfrm>
          <a:prstGeom prst="roundRect">
            <a:avLst>
              <a:gd name="adj" fmla="val 6897"/>
            </a:avLst>
          </a:prstGeom>
          <a:solidFill>
            <a:srgbClr val="F5FBFA"/>
          </a:solidFill>
          <a:ln w="1270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731520" y="2596896"/>
            <a:ext cx="548640" cy="548640"/>
          </a:xfrm>
          <a:prstGeom prst="ellipse">
            <a:avLst/>
          </a:prstGeom>
          <a:solidFill>
            <a:srgbClr val="0E7A6E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31520" y="2596896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417320" y="2542032"/>
            <a:ext cx="423367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B5A5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Cross-Bank Graph Representation
</a:t>
            </a:r>
            <a:r>
              <a:rPr lang="en-US" sz="110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Model transactions as a heterogeneous, temporal graph (customer–account–bank) so a ring hidden across banks becomes one visible structure.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355080" y="2414016"/>
            <a:ext cx="5285232" cy="1060704"/>
          </a:xfrm>
          <a:prstGeom prst="roundRect">
            <a:avLst>
              <a:gd name="adj" fmla="val 6897"/>
            </a:avLst>
          </a:prstGeom>
          <a:solidFill>
            <a:srgbClr val="F5FBFA"/>
          </a:solidFill>
          <a:ln w="1270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537960" y="2596896"/>
            <a:ext cx="548640" cy="548640"/>
          </a:xfrm>
          <a:prstGeom prst="ellipse">
            <a:avLst/>
          </a:prstGeom>
          <a:solidFill>
            <a:srgbClr val="0E7A6E"/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537960" y="2596896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223760" y="2542032"/>
            <a:ext cx="423367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B5A5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Temporal GNN Detection
</a:t>
            </a:r>
            <a:r>
              <a:rPr lang="en-US" sz="110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Detect suspicious accounts, transactions and full rings with GNNs plus temporal encoding, benchmarking GCN / GraphSAGE / GAT variants.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3639312"/>
            <a:ext cx="5285232" cy="1060704"/>
          </a:xfrm>
          <a:prstGeom prst="roundRect">
            <a:avLst>
              <a:gd name="adj" fmla="val 6897"/>
            </a:avLst>
          </a:prstGeom>
          <a:solidFill>
            <a:srgbClr val="F5FBFA"/>
          </a:solidFill>
          <a:ln w="1270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731520" y="3822192"/>
            <a:ext cx="548640" cy="548640"/>
          </a:xfrm>
          <a:prstGeom prst="ellipse">
            <a:avLst/>
          </a:prstGeom>
          <a:solidFill>
            <a:srgbClr val="0E7A6E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31520" y="382219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417320" y="3767328"/>
            <a:ext cx="423367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B5A5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Imbalance &amp; False-Positive Control
</a:t>
            </a:r>
            <a:r>
              <a:rPr lang="en-US" sz="110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Apply imbalance-aware training and a LightGBM filter to handle sub-1% laundering rarity and cut analyst false-positive burden.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355080" y="3639312"/>
            <a:ext cx="5285232" cy="1060704"/>
          </a:xfrm>
          <a:prstGeom prst="roundRect">
            <a:avLst>
              <a:gd name="adj" fmla="val 6897"/>
            </a:avLst>
          </a:prstGeom>
          <a:solidFill>
            <a:srgbClr val="F5FBFA"/>
          </a:solidFill>
          <a:ln w="1270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6537960" y="3822192"/>
            <a:ext cx="548640" cy="548640"/>
          </a:xfrm>
          <a:prstGeom prst="ellipse">
            <a:avLst/>
          </a:prstGeom>
          <a:solidFill>
            <a:srgbClr val="0E7A6E"/>
          </a:solidFill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537960" y="382219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7223760" y="3767328"/>
            <a:ext cx="423367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B5A5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Multi-Bank Digital Twin
</a:t>
            </a:r>
            <a:r>
              <a:rPr lang="en-US" sz="110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Build a synthetic multi-bank testbed on the IBM AML data that injects and mutates laundering rings with known ground truth.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48640" y="4864608"/>
            <a:ext cx="5285232" cy="1060704"/>
          </a:xfrm>
          <a:prstGeom prst="roundRect">
            <a:avLst>
              <a:gd name="adj" fmla="val 6897"/>
            </a:avLst>
          </a:prstGeom>
          <a:solidFill>
            <a:srgbClr val="F5FBFA"/>
          </a:solidFill>
          <a:ln w="1270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731520" y="5047488"/>
            <a:ext cx="548640" cy="548640"/>
          </a:xfrm>
          <a:prstGeom prst="ellipse">
            <a:avLst/>
          </a:prstGeom>
          <a:solidFill>
            <a:srgbClr val="0E7A6E"/>
          </a:solidFill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731520" y="504748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1417320" y="4992624"/>
            <a:ext cx="423367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B5A5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Adversarial Robustness Evaluation
</a:t>
            </a:r>
            <a:r>
              <a:rPr lang="en-US" sz="110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Stress-test the detector against adaptive, camouflaged laundering and quantify degradation (D) and recovery (R) after retraining.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355080" y="4864608"/>
            <a:ext cx="5285232" cy="1060704"/>
          </a:xfrm>
          <a:prstGeom prst="roundRect">
            <a:avLst>
              <a:gd name="adj" fmla="val 6897"/>
            </a:avLst>
          </a:prstGeom>
          <a:solidFill>
            <a:srgbClr val="F5FBFA"/>
          </a:solidFill>
          <a:ln w="1270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6537960" y="5047488"/>
            <a:ext cx="548640" cy="548640"/>
          </a:xfrm>
          <a:prstGeom prst="ellipse">
            <a:avLst/>
          </a:prstGeom>
          <a:solidFill>
            <a:srgbClr val="0E7A6E"/>
          </a:solidFill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6537960" y="504748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6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7223760" y="4992624"/>
            <a:ext cx="423367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B5A5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Human-in-the-Loop Reporting
</a:t>
            </a:r>
            <a:r>
              <a:rPr lang="en-US" sz="110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Use a GenAI layer to draft Suspicious Transaction Reports and a freeze recommendation that a bank officer reviews and approves.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bit_header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3996" y="237744"/>
            <a:ext cx="7680960" cy="14493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1865376"/>
            <a:ext cx="146304" cy="329184"/>
          </a:xfrm>
          <a:prstGeom prst="roundRect">
            <a:avLst>
              <a:gd name="adj" fmla="val 25000"/>
            </a:avLst>
          </a:prstGeom>
          <a:solidFill>
            <a:srgbClr val="14B8A6"/>
          </a:solidFill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786384" y="179222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5A5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Datasets Used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ARGUS  |  Graph Intelligence for Anti-Money-Laundering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48640" y="2505456"/>
          <a:ext cx="11091672" cy="4206240"/>
        </p:xfrm>
        <a:graphic>
          <a:graphicData uri="http://schemas.openxmlformats.org/drawingml/2006/table">
            <a:tbl>
              <a:tblPr/>
              <a:tblGrid>
                <a:gridCol w="3200400"/>
                <a:gridCol w="3566160"/>
                <a:gridCol w="4325112"/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Dataset</a:t>
                      </a:r>
                      <a:endParaRPr lang="en-US" sz="12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Purpose</a:t>
                      </a:r>
                      <a:endParaRPr lang="en-US" sz="12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Key Attributes</a:t>
                      </a:r>
                      <a:endParaRPr lang="en-US" sz="12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E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IBM AML Dataset — HI-Small</a:t>
                      </a:r>
                      <a:endParaRPr lang="en-US" sz="11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u="sng" dirty="0">
                          <a:solidFill>
                            <a:srgbClr val="0E7A6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kaggle.com/datasets/ealtman2019/ibm-transactions-for-aml</a:t>
                      </a:r>
                      <a:endParaRPr lang="en-US" sz="11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38100" marR="38100" marT="38100" marB="38100" anchor="t">
                    <a:lnL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Primary training &amp; evaluation; realistic multi-bank background traffic</a:t>
                      </a:r>
                      <a:endParaRPr lang="en-US" sz="11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38100" marR="38100" marT="38100" marB="38100" anchor="t">
                    <a:lnL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515K accounts / 5M transactions; timestamp, from/to bank &amp; account, amount, currency, is-laundering label; 8 laundering typologies</a:t>
                      </a:r>
                      <a:endParaRPr lang="en-US" sz="11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38100" marR="38100" marT="38100" marB="38100" anchor="t">
                    <a:lnL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Elliptic &amp; Elliptic2 (real Bitcoin)</a:t>
                      </a:r>
                      <a:endParaRPr lang="en-US" sz="11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u="sng" dirty="0">
                          <a:solidFill>
                            <a:srgbClr val="0E7A6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kaggle.com/datasets/ellipticco/elliptic-data-set</a:t>
                      </a:r>
                      <a:endParaRPr lang="en-US" sz="11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1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u="sng" dirty="0">
                          <a:solidFill>
                            <a:srgbClr val="0E7A6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elliptic.co/elliptic2</a:t>
                      </a:r>
                      <a:endParaRPr lang="en-US" sz="11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38100" marR="38100" marT="38100" marB="38100" anchor="t">
                    <a:lnL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Cross-domain validation and ring / subgraph-level detection</a:t>
                      </a:r>
                      <a:endParaRPr lang="en-US" sz="11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38100" marR="38100" marT="38100" marB="38100" anchor="t">
                    <a:lnL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Elliptic: ~200K node transactions with temporal steps (licit/illicit); Elliptic2: 122K labelled subgraphs over a 49M-node / 196M-edge graph</a:t>
                      </a:r>
                      <a:endParaRPr lang="en-US" sz="11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38100" marR="38100" marT="38100" marB="38100" anchor="t">
                    <a:lnL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Multi-Bank Digital Twin (synthetic, via AMLSim)</a:t>
                      </a:r>
                      <a:endParaRPr lang="en-US" sz="11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u="sng" dirty="0">
                          <a:solidFill>
                            <a:srgbClr val="0E7A6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github.com/IBM/AMLSim</a:t>
                      </a:r>
                      <a:endParaRPr lang="en-US" sz="11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38100" marR="38100" marT="38100" marB="38100" anchor="t">
                    <a:lnL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Controlled adversarial testbed with injected &amp; mutated rings (known ground truth)</a:t>
                      </a:r>
                      <a:endParaRPr lang="en-US" sz="11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38100" marR="38100" marT="38100" marB="38100" anchor="t">
                    <a:lnL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5–8 interconnected banks streaming transactions; configurable typologies, camouflage and multi-round attacks</a:t>
                      </a:r>
                      <a:endParaRPr lang="en-US" sz="11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38100" marR="38100" marT="38100" marB="38100" anchor="t">
                    <a:lnL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bit_header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3996" y="237744"/>
            <a:ext cx="7680960" cy="14493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1865376"/>
            <a:ext cx="146304" cy="329184"/>
          </a:xfrm>
          <a:prstGeom prst="roundRect">
            <a:avLst>
              <a:gd name="adj" fmla="val 25000"/>
            </a:avLst>
          </a:prstGeom>
          <a:solidFill>
            <a:srgbClr val="14B8A6"/>
          </a:solidFill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786384" y="179222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5A5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Software &amp; Hardware Requirements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ARGUS  |  Graph Intelligence for Anti-Money-Laundering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2414016"/>
            <a:ext cx="5394960" cy="3840480"/>
          </a:xfrm>
          <a:prstGeom prst="roundRect">
            <a:avLst>
              <a:gd name="adj" fmla="val 2381"/>
            </a:avLst>
          </a:prstGeom>
          <a:solidFill>
            <a:srgbClr val="F5FBFA"/>
          </a:solidFill>
          <a:ln w="1270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48640" y="2414016"/>
            <a:ext cx="5394960" cy="566928"/>
          </a:xfrm>
          <a:prstGeom prst="roundRect">
            <a:avLst>
              <a:gd name="adj" fmla="val 16129"/>
            </a:avLst>
          </a:prstGeom>
          <a:solidFill>
            <a:srgbClr val="0E7A6E"/>
          </a:solidFill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48640" y="2697480"/>
            <a:ext cx="5394960" cy="283464"/>
          </a:xfrm>
          <a:prstGeom prst="rect">
            <a:avLst/>
          </a:prstGeom>
          <a:solidFill>
            <a:srgbClr val="0E7A6E"/>
          </a:solidFill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22960" y="2414016"/>
            <a:ext cx="4846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SOFTWARE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68680" y="3163824"/>
            <a:ext cx="475488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Language: Python 3</a:t>
            </a:r>
            <a:endParaRPr lang="en-US" sz="1150" dirty="0"/>
          </a:p>
          <a:p>
            <a:pPr marL="203200" indent="-203200" algn="l"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Deep learning: PyTorch + PyTorch Geometric (PyG)</a:t>
            </a:r>
            <a:endParaRPr lang="en-US" sz="1150" dirty="0"/>
          </a:p>
          <a:p>
            <a:pPr marL="203200" indent="-203200" algn="l"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Graph models: GCN / GraphSAGE / GAT / PNA</a:t>
            </a:r>
            <a:r>
              <a:rPr lang="en-IN" altLang="en-US" sz="125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+</a:t>
            </a:r>
            <a:r>
              <a:rPr lang="en-US" sz="125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temporal variants (EvolveGCN)</a:t>
            </a:r>
            <a:endParaRPr lang="en-US" sz="1150" dirty="0"/>
          </a:p>
          <a:p>
            <a:pPr marL="203200" indent="-203200" algn="l"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ML filter: LightGBM / XGBoost, scikit-learn</a:t>
            </a:r>
            <a:endParaRPr lang="en-US" sz="1150" dirty="0"/>
          </a:p>
          <a:p>
            <a:pPr marL="203200" indent="-203200" algn="l"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Simulation: AMLSim + SimPy (multi-bank digital-twin engine)</a:t>
            </a:r>
            <a:endParaRPr lang="en-US" sz="1150" dirty="0"/>
          </a:p>
          <a:p>
            <a:pPr marL="203200" indent="-203200" algn="l"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GenAI: Google Gemini API (STR drafting &amp; </a:t>
            </a:r>
            <a:r>
              <a:rPr lang="en-IN" altLang="en-US" sz="125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Multi agents)</a:t>
            </a:r>
            <a:endParaRPr lang="en-US" sz="1150" dirty="0"/>
          </a:p>
          <a:p>
            <a:pPr marL="203200" indent="-203200" algn="l"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Graph store &amp; viz: NetworkX / Neo4j + Cytoscape.js / D3.js</a:t>
            </a:r>
            <a:endParaRPr lang="en-US" sz="1150" dirty="0"/>
          </a:p>
          <a:p>
            <a:pPr marL="203200" indent="-203200" algn="l"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Backend &amp; API: FastAPI (Python) on Google Cloud Run</a:t>
            </a:r>
            <a:endParaRPr lang="en-US" sz="1150" dirty="0"/>
          </a:p>
          <a:p>
            <a:pPr marL="203200" indent="-203200" algn="l"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Frontend: React + Vite (interactive demo UI)</a:t>
            </a:r>
            <a:endParaRPr lang="en-US" sz="1150" dirty="0"/>
          </a:p>
          <a:p>
            <a:pPr marL="203200" indent="-203200" algn="l"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Env &amp; tools: Kaggle / Colab (free GPU), Git &amp; GitHub, VS Code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45352" y="2414016"/>
            <a:ext cx="5394960" cy="3840480"/>
          </a:xfrm>
          <a:prstGeom prst="roundRect">
            <a:avLst>
              <a:gd name="adj" fmla="val 2381"/>
            </a:avLst>
          </a:prstGeom>
          <a:solidFill>
            <a:srgbClr val="F5FBFA"/>
          </a:solidFill>
          <a:ln w="1270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6245352" y="2414016"/>
            <a:ext cx="5394960" cy="566928"/>
          </a:xfrm>
          <a:prstGeom prst="roundRect">
            <a:avLst>
              <a:gd name="adj" fmla="val 16129"/>
            </a:avLst>
          </a:prstGeom>
          <a:solidFill>
            <a:srgbClr val="0E7A6E"/>
          </a:solidFill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245352" y="2697480"/>
            <a:ext cx="5394960" cy="283464"/>
          </a:xfrm>
          <a:prstGeom prst="rect">
            <a:avLst/>
          </a:prstGeom>
          <a:solidFill>
            <a:srgbClr val="0E7A6E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519672" y="2414016"/>
            <a:ext cx="4846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HARDWARE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565392" y="3163824"/>
            <a:ext cx="475488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700"/>
              </a:spcAft>
              <a:buSzPct val="100000"/>
              <a:buChar char="▸"/>
            </a:pPr>
            <a:r>
              <a:rPr lang="en-US" sz="130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Training GPU: NVIDIA T4 / P100 16 GB (free Kaggle / Colab)</a:t>
            </a:r>
            <a:endParaRPr lang="en-US" sz="1200" dirty="0"/>
          </a:p>
          <a:p>
            <a:pPr marL="203200" indent="-203200" algn="l">
              <a:spcAft>
                <a:spcPts val="700"/>
              </a:spcAft>
              <a:buSzPct val="100000"/>
              <a:buChar char="▸"/>
            </a:pPr>
            <a:r>
              <a:rPr lang="en-US" sz="130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Processor: Intel i5 / Ryzen 5 or higher (local dev)</a:t>
            </a:r>
            <a:endParaRPr lang="en-US" sz="1200" dirty="0"/>
          </a:p>
          <a:p>
            <a:pPr marL="203200" indent="-203200" algn="l">
              <a:spcAft>
                <a:spcPts val="700"/>
              </a:spcAft>
              <a:buSzPct val="100000"/>
              <a:buChar char="▸"/>
            </a:pPr>
            <a:r>
              <a:rPr lang="en-US" sz="130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RAM: 8 GB minimum (16 GB recommended)</a:t>
            </a:r>
            <a:endParaRPr lang="en-US" sz="1200" dirty="0"/>
          </a:p>
          <a:p>
            <a:pPr marL="203200" indent="-203200" algn="l">
              <a:spcAft>
                <a:spcPts val="700"/>
              </a:spcAft>
              <a:buSzPct val="100000"/>
              <a:buChar char="▸"/>
            </a:pPr>
            <a:r>
              <a:rPr lang="en-US" sz="130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Storage: 20 GB free (SSD preferred for large graphs)</a:t>
            </a:r>
            <a:endParaRPr lang="en-US" sz="1200" dirty="0"/>
          </a:p>
          <a:p>
            <a:pPr marL="203200" indent="-203200" algn="l">
              <a:spcAft>
                <a:spcPts val="700"/>
              </a:spcAft>
              <a:buSzPct val="100000"/>
              <a:buChar char="▸"/>
            </a:pPr>
            <a:r>
              <a:rPr lang="en-US" sz="130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Cloud (optional): GCP — BigQuery features + Cloud Run demo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bit_header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3996" y="237744"/>
            <a:ext cx="7680960" cy="14493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1865376"/>
            <a:ext cx="146304" cy="329184"/>
          </a:xfrm>
          <a:prstGeom prst="roundRect">
            <a:avLst>
              <a:gd name="adj" fmla="val 25000"/>
            </a:avLst>
          </a:prstGeom>
          <a:solidFill>
            <a:srgbClr val="14B8A6"/>
          </a:solidFill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786384" y="179222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5A5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ARGUS  |  Graph Intelligence for Anti-Money-Laundering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2377440"/>
            <a:ext cx="11091672" cy="4069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[1] Johannessen, F., &amp; Jullum, M. (2025). Finding money launderers using heterogeneous graph neural networks. Journal of Finance and Data Science, 11, 100175. https://doi.org/10.1016/j.jfds.2025.100175</a:t>
            </a:r>
            <a:endParaRPr lang="en-US" sz="1050" dirty="0"/>
          </a:p>
          <a:p>
            <a:pPr marL="0" indent="0" algn="l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[2] Di Gennaro, M., Panebianco, F., Pianta, M., Zanero, S., &amp; Carminati, M. (2024). Amatriciana: Exploiting temporal GNNs for robust and efficient money laundering detection. In 2024 IEEE International Conference on Data Mining Workshops (ICDMW). https://doi.org/10.1109/ICDMW65004.2024.00039</a:t>
            </a:r>
            <a:endParaRPr lang="en-US" sz="1050" dirty="0"/>
          </a:p>
          <a:p>
            <a:pPr marL="0" indent="0" algn="l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[3] Granados, O. M., García-Bedoya, O., &amp; González, E. (2024). GAN+ABM to simulate suspicious money laundering trajectories. In 2024 IEEE International Conference on Data Mining Workshops (ICDMW) (pp. 262–269). https://doi.org/10.1109/ICDMW65004.2024.00040</a:t>
            </a:r>
            <a:endParaRPr lang="en-US" sz="1050" dirty="0"/>
          </a:p>
          <a:p>
            <a:pPr marL="0" indent="0" algn="l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[4] Prasetya, H. A., Liu, X., Murata, T., &amp; Matono, A. (2025). A multi-rounded adversarial scenario for graph-based promo fraud detection. Social Network Analysis and Mining, 15. https://doi.org/10.1007/s13278-025-01566-0</a:t>
            </a:r>
            <a:endParaRPr lang="en-US" sz="1050" dirty="0"/>
          </a:p>
          <a:p>
            <a:pPr marL="0" indent="0" algn="l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[5] Liu, Y., Ao, X., Qin, Z., Chi, J., Feng, J., Yang, H., &amp; He, Q. (2021). Pick and choose: A GNN-based imbalanced learning approach for fraud detection. In Proceedings of the Web Conference 2021 (pp. 3168–3177). https://doi.org/10.1145/3442381.3449989</a:t>
            </a:r>
            <a:endParaRPr lang="en-US" sz="1050" dirty="0"/>
          </a:p>
          <a:p>
            <a:pPr marL="0" indent="0" algn="l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[6] Dou, Y., Liu, Z., Sun, L., Deng, Y., Peng, H., &amp; Yu, P. S. (2020). Enhancing graph neural network-based fraud detectors against camouflaged fraudsters. In Proceedings of the 29th ACM International Conference on Information &amp; Knowledge Management (pp. 315–324). https://doi.org/10.1145/3340531.3411903</a:t>
            </a:r>
            <a:endParaRPr lang="en-US" sz="1050" dirty="0"/>
          </a:p>
          <a:p>
            <a:pPr marL="0" indent="0" algn="l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[7] Cardoso, M., Saleiro, P., &amp; Bizarro, P. (2022). LaundroGraph: Self-supervised graph representation learning for anti-money laundering. In Proceedings of the 3rd ACM International Conference on AI in Finance (pp. 130–138). https://doi.org/10.1145/3533271.3561727</a:t>
            </a:r>
            <a:endParaRPr lang="en-US" sz="1050" dirty="0"/>
          </a:p>
          <a:p>
            <a:pPr marL="0" indent="0" algn="l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[8] Alarab, I., &amp; Prakoonwit, S. (2023). Graph-based LSTM for anti-money laundering: Experimenting temporal graph convolutional network with Bitcoin data. Neural Processing Letters, 55(1), 689–707. https://doi.org/10.1007/s11063-022-10904-8</a:t>
            </a:r>
            <a:endParaRPr lang="en-US" sz="1050" dirty="0"/>
          </a:p>
          <a:p>
            <a:pPr marL="0" indent="0" algn="l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[9] Bellei, C., Xu, M., Phillips, R., Robinson, T., Weber, M., Kaler, T., Leiserson, C. E., Arvind, &amp; Chen, J. (2024). The shape of money laundering: Subgraph representation learning on the blockchain with the Elliptic2 dataset. In KDD Workshop on Machine Learning in Finance. https://arxiv.org/abs/2404.19109</a:t>
            </a:r>
            <a:endParaRPr lang="en-US" sz="1050" dirty="0"/>
          </a:p>
          <a:p>
            <a:pPr marL="0" indent="0" algn="l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A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[10] Weber, M., Chen, J., Suzumura, T., Pareja, A., Ma, T., Kanezashi, H., Kaler, T., Leiserson, C. E., &amp; Schardl, T. B. (2018). Scalable graph learning for anti-money laundering: A first look. In NeurIPS Workshop on AI in Finance. https://arxiv.org/abs/1812.00076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bit_header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3996" y="237744"/>
            <a:ext cx="7680960" cy="14493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V="1">
            <a:off x="4572000" y="2011680"/>
            <a:ext cx="1051560" cy="630936"/>
          </a:xfrm>
          <a:prstGeom prst="line">
            <a:avLst/>
          </a:prstGeom>
          <a:noFill/>
          <a:ln w="1905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4572000" y="2642616"/>
            <a:ext cx="1051560" cy="630936"/>
          </a:xfrm>
          <a:prstGeom prst="line">
            <a:avLst/>
          </a:prstGeom>
          <a:noFill/>
          <a:ln w="1905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5623560" y="2011680"/>
            <a:ext cx="1051560" cy="368046"/>
          </a:xfrm>
          <a:prstGeom prst="line">
            <a:avLst/>
          </a:prstGeom>
          <a:noFill/>
          <a:ln w="1905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 flipV="1">
            <a:off x="5623560" y="2379726"/>
            <a:ext cx="1051560" cy="893826"/>
          </a:xfrm>
          <a:prstGeom prst="line">
            <a:avLst/>
          </a:prstGeom>
          <a:noFill/>
          <a:ln w="1905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 flipV="1">
            <a:off x="5623560" y="3115818"/>
            <a:ext cx="1051560" cy="157734"/>
          </a:xfrm>
          <a:prstGeom prst="line">
            <a:avLst/>
          </a:prstGeom>
          <a:noFill/>
          <a:ln w="1905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6675120" y="2379726"/>
            <a:ext cx="946404" cy="368046"/>
          </a:xfrm>
          <a:prstGeom prst="line">
            <a:avLst/>
          </a:prstGeom>
          <a:noFill/>
          <a:ln w="1905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 flipV="1">
            <a:off x="6675120" y="2747772"/>
            <a:ext cx="946404" cy="368046"/>
          </a:xfrm>
          <a:prstGeom prst="line">
            <a:avLst/>
          </a:prstGeom>
          <a:noFill/>
          <a:ln w="1905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623560" y="2011680"/>
            <a:ext cx="1051560" cy="1104138"/>
          </a:xfrm>
          <a:prstGeom prst="line">
            <a:avLst/>
          </a:prstGeom>
          <a:noFill/>
          <a:ln w="19050">
            <a:solidFill>
              <a:srgbClr val="C7E5DF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482617" y="2553233"/>
            <a:ext cx="178765" cy="178765"/>
          </a:xfrm>
          <a:prstGeom prst="ellipse">
            <a:avLst/>
          </a:prstGeom>
          <a:solidFill>
            <a:srgbClr val="0E7A6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5534177" y="1922297"/>
            <a:ext cx="178765" cy="178765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5534177" y="3184169"/>
            <a:ext cx="178765" cy="178765"/>
          </a:xfrm>
          <a:prstGeom prst="ellipse">
            <a:avLst/>
          </a:prstGeom>
          <a:solidFill>
            <a:srgbClr val="0E7A6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585737" y="2290343"/>
            <a:ext cx="178765" cy="178765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585737" y="3026435"/>
            <a:ext cx="178765" cy="178765"/>
          </a:xfrm>
          <a:prstGeom prst="ellipse">
            <a:avLst/>
          </a:prstGeom>
          <a:solidFill>
            <a:srgbClr val="0E7A6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7532141" y="2658389"/>
            <a:ext cx="178765" cy="178765"/>
          </a:xfrm>
          <a:prstGeom prst="ellipse">
            <a:avLst/>
          </a:prstGeom>
          <a:solidFill>
            <a:srgbClr val="E2603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0" y="3520440"/>
            <a:ext cx="1218895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B5A5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18" name="Text 15"/>
          <p:cNvSpPr/>
          <p:nvPr/>
        </p:nvSpPr>
        <p:spPr>
          <a:xfrm>
            <a:off x="0" y="4498848"/>
            <a:ext cx="1218895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0" y="5029200"/>
            <a:ext cx="121889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Y. Charan Sai    •    B. Ram Charan    •    C. Ganesh Kumar        |        Guide: Ms. V. Vasuki Rohini Devi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ARGUS  |  Graph Intelligence for Anti-Money-Laundering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15046</Words>
  <Application>WPS Presentation</Application>
  <PresentationFormat>On-screen Show (16:9)</PresentationFormat>
  <Paragraphs>462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SimSun</vt:lpstr>
      <vt:lpstr>Wingdings</vt:lpstr>
      <vt:lpstr>Times New Roman</vt:lpstr>
      <vt:lpstr>Times New Roman</vt:lpstr>
      <vt:lpstr>Times New Roman</vt:lpstr>
      <vt:lpstr>Calibri</vt:lpstr>
      <vt:lpstr>Microsoft YaHei</vt:lpstr>
      <vt:lpstr>Arial Unicode MS</vt:lpstr>
      <vt:lpstr>MS PGothic</vt:lpstr>
      <vt:lpstr>Algerian</vt:lpstr>
      <vt:lpstr>Sitka Text Semibold</vt:lpstr>
      <vt:lpstr>Unispace</vt:lpstr>
      <vt:lpstr>Tw Cen MT Condensed Extra Bold</vt:lpstr>
      <vt:lpstr>Trebuchet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Charan Sai</cp:lastModifiedBy>
  <cp:revision>5</cp:revision>
  <dcterms:created xsi:type="dcterms:W3CDTF">2026-08-22T05:14:00Z</dcterms:created>
  <dcterms:modified xsi:type="dcterms:W3CDTF">2026-08-22T08:39:37Z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FF345CCABADE4935ACB77B802363ED6C_12</vt:lpwstr>
  </property>
  <property fmtid="{D5CDD505-2E9C-101B-9397-08002B2CF9AE}" pid="3" name="KSOProductBuildVer">
    <vt:lpwstr>1033-12.1.0.28032</vt:lpwstr>
  </property>
</Properties>
</file>